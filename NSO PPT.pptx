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1" r:id="rId7"/>
    <p:sldId id="262" r:id="rId8"/>
    <p:sldId id="260" r:id="rId9"/>
    <p:sldId id="263" r:id="rId10"/>
    <p:sldId id="264" r:id="rId11"/>
    <p:sldId id="266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293E0-C8EE-AAB4-E877-B28452E888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39C372-0C8B-F03F-586F-B89187A113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B8444-9425-CA3A-2525-0DCF06B00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C3F7E-B0FB-475A-8328-6DC63AF3202E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A954B-19F7-DC76-9C4D-388357296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79347-C34F-6964-FAF6-10CE1C25D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409A6-D613-4F17-8BFE-514F0E535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42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1CA44-3870-4868-5B61-CBF5BB6F6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3392B-1B00-60C0-6185-1691A9844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B6A7B-9602-21B0-8C0C-1DB0E2622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C3F7E-B0FB-475A-8328-6DC63AF3202E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5FAB6-DDBB-BE2E-A3D7-2504D9947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5E763-0572-C587-BC7B-62C0FA2B2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409A6-D613-4F17-8BFE-514F0E535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647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0339C-6855-F2D9-8054-83A41503C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80AC7-76EC-8B58-8465-473F12C05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26E64-AA98-3C8A-FAFF-98C2F6EB9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C3F7E-B0FB-475A-8328-6DC63AF3202E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1658F-849A-B6D9-2BFF-A8BC570DC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22420-9E0E-3C90-B2B0-85C374687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409A6-D613-4F17-8BFE-514F0E535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482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6D12B-E1DA-889D-FA4F-5F4DB14EA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4EB4D-8419-6E33-9D56-B997C68339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AEFDC5-3BDE-9687-42B7-5CFDACB05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56772-721D-B70F-F7E1-82162C5E0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C3F7E-B0FB-475A-8328-6DC63AF3202E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FD61F-A813-F408-66D7-07E0375AC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BED72-55F9-2D07-8DF8-900F4FB5D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409A6-D613-4F17-8BFE-514F0E535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57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D3BB6-A9FA-830A-7183-7DD53A057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0D034F-B8FB-F406-9E24-E866FDAAC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AB1DC-9408-39C6-8DC5-E9488EEE25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2C63EF-5908-48C8-1028-37047F42FC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759C93-25E0-A8C2-7A83-4F5358C7CE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2C4B75-39D7-DF25-1470-D90811E34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C3F7E-B0FB-475A-8328-6DC63AF3202E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7584BF-80DE-2019-F07C-35CC19D9E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EB6C5F-124E-7DCA-C443-94DF25C62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409A6-D613-4F17-8BFE-514F0E535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126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6B5EF-0B4A-5472-3BBC-EA7787DF6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B8481-A754-6191-B1F5-878F2FB2E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C3F7E-B0FB-475A-8328-6DC63AF3202E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2F7423-907D-58AD-6A68-16598CB0A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935A56-3FF2-C9DD-35D4-EE277A922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409A6-D613-4F17-8BFE-514F0E535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61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857200-5C48-A1E2-A7DA-4A87FFAA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C3F7E-B0FB-475A-8328-6DC63AF3202E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1A8B9E-39BF-C110-A5F9-AF9CCEDC4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E63812-8FE2-8681-41A4-41A993CA7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409A6-D613-4F17-8BFE-514F0E535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957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F69DF-45FD-7830-851B-86D0A4200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54F23-7BB4-978D-512B-61D4BF4D7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4B181-840D-4DF4-C2F5-F2AECAFCE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462ED-2871-8496-D4D5-D5A83DB58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C3F7E-B0FB-475A-8328-6DC63AF3202E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69FC3F-6F0D-46EA-0E55-50536038F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E933E-ACC0-B22C-C6F1-C9B422B34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409A6-D613-4F17-8BFE-514F0E535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880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69EBD-7B75-1B89-0338-BE1675B8D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6E0125-56E4-244E-94D7-D481C56D7D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38F9A3-A048-6BF4-F21B-E409DC814E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99BFF-CFA2-1F40-0B73-97786E8CC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C3F7E-B0FB-475A-8328-6DC63AF3202E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9B0E6-4356-75A2-A6F1-2CE3896CF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6A90E-9ED3-9EEA-9B87-3C8FD0E8E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409A6-D613-4F17-8BFE-514F0E535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98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652FD-F299-A845-285F-B0D9790EE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F4017C-87B2-29F6-1424-5EDA7EC69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F7BD1-37CD-8817-357D-285ACA140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C3F7E-B0FB-475A-8328-6DC63AF3202E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0C155-6470-58FA-98EA-A18C1AC46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A51B2-D079-D959-9BE7-1F9AFEED0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409A6-D613-4F17-8BFE-514F0E535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197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0C1468-98A4-E6D0-2192-BA1394CAD7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E00F06-E818-8033-0A8E-B539502F9D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C7B84-C58C-E94D-EFF5-62E6421D1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C3F7E-B0FB-475A-8328-6DC63AF3202E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EE501-2F82-CE16-5CB9-89CC22278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04661-6188-46E0-DB62-11039C872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409A6-D613-4F17-8BFE-514F0E535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097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7B9ECF-332D-05CF-FB65-3586A1861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615DA-BB22-DDF4-1C94-FE67A1935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1D918-7BF5-9BAF-30F5-CC11484D69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6C3F7E-B0FB-475A-8328-6DC63AF3202E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86542-0868-B34C-7EC7-C06D599AF5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3938F-C364-5BE6-9B3A-A02056A855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B409A6-D613-4F17-8BFE-514F0E535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561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4E8F7-90FB-39EB-9804-A878B845FB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84D185-524C-2BFD-C3C2-0D4220FCF6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1091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A2AAB6-ADD2-1119-ED47-02CE1D6CE555}"/>
              </a:ext>
            </a:extLst>
          </p:cNvPr>
          <p:cNvSpPr txBox="1"/>
          <p:nvPr/>
        </p:nvSpPr>
        <p:spPr>
          <a:xfrm>
            <a:off x="595459" y="979545"/>
            <a:ext cx="11001081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b="0" i="0" dirty="0">
                <a:solidFill>
                  <a:srgbClr val="475569"/>
                </a:solidFill>
                <a:effectLst/>
                <a:latin typeface="IBM Plex Sans" panose="020B0503050203000203" pitchFamily="34" charset="0"/>
              </a:rPr>
              <a:t>When a network engineer types a single command such as </a:t>
            </a:r>
            <a:r>
              <a:rPr lang="en-US" b="1" i="0" dirty="0">
                <a:solidFill>
                  <a:srgbClr val="1C4E8C"/>
                </a:solidFill>
                <a:effectLst/>
                <a:latin typeface="IBM Plex Mono" panose="020B0509050203000203" pitchFamily="49" charset="0"/>
              </a:rPr>
              <a:t>simple-service test1 device ios0 bandwidth 100M</a:t>
            </a:r>
            <a:r>
              <a:rPr lang="en-US" b="0" i="0" dirty="0">
                <a:solidFill>
                  <a:srgbClr val="475569"/>
                </a:solidFill>
                <a:effectLst/>
                <a:latin typeface="IBM Plex Sans" panose="020B0503050203000203" pitchFamily="34" charset="0"/>
              </a:rPr>
              <a:t>, Cisco NSO executes a deterministic 22-step pipeline that validates the request, generates device-specific configuration, computes only what has changed, pushes it to the physical device, and commits everything as an atomic transaction — all within seconds.</a:t>
            </a:r>
          </a:p>
          <a:p>
            <a:pPr algn="l">
              <a:buNone/>
            </a:pPr>
            <a:r>
              <a:rPr lang="en-US" b="0" i="0" dirty="0">
                <a:solidFill>
                  <a:srgbClr val="475569"/>
                </a:solidFill>
                <a:effectLst/>
                <a:latin typeface="IBM Plex Sans" panose="020B0503050203000203" pitchFamily="34" charset="0"/>
              </a:rPr>
              <a:t>This document details every step: what triggers it, what it does, and why it is necessary. The flow is divided into </a:t>
            </a:r>
            <a:r>
              <a:rPr lang="en-US" b="1" i="0" dirty="0">
                <a:solidFill>
                  <a:srgbClr val="475569"/>
                </a:solidFill>
                <a:effectLst/>
                <a:latin typeface="IBM Plex Sans" panose="020B0503050203000203" pitchFamily="34" charset="0"/>
              </a:rPr>
              <a:t>8 phases</a:t>
            </a:r>
            <a:r>
              <a:rPr lang="en-US" b="0" i="0" dirty="0">
                <a:solidFill>
                  <a:srgbClr val="475569"/>
                </a:solidFill>
                <a:effectLst/>
                <a:latin typeface="IBM Plex Sans" panose="020B0503050203000203" pitchFamily="34" charset="0"/>
              </a:rPr>
              <a:t> — from schema registration through final persistence. Two YANG models drive the entire pipeline: the </a:t>
            </a:r>
            <a:r>
              <a:rPr lang="en-US" b="1" i="0" dirty="0">
                <a:solidFill>
                  <a:srgbClr val="7C3AED"/>
                </a:solidFill>
                <a:effectLst/>
                <a:latin typeface="IBM Plex Sans" panose="020B0503050203000203" pitchFamily="34" charset="0"/>
              </a:rPr>
              <a:t>Service YANG</a:t>
            </a:r>
            <a:r>
              <a:rPr lang="en-US" b="0" i="0" dirty="0">
                <a:solidFill>
                  <a:srgbClr val="475569"/>
                </a:solidFill>
                <a:effectLst/>
                <a:latin typeface="IBM Plex Sans" panose="020B0503050203000203" pitchFamily="34" charset="0"/>
              </a:rPr>
              <a:t> (defines what the engineer can ask for) and the </a:t>
            </a:r>
            <a:r>
              <a:rPr lang="en-US" b="1" i="0" dirty="0">
                <a:solidFill>
                  <a:srgbClr val="0D9488"/>
                </a:solidFill>
                <a:effectLst/>
                <a:latin typeface="IBM Plex Sans" panose="020B0503050203000203" pitchFamily="34" charset="0"/>
              </a:rPr>
              <a:t>NED YANG</a:t>
            </a:r>
            <a:r>
              <a:rPr lang="en-US" b="0" i="0" dirty="0">
                <a:solidFill>
                  <a:srgbClr val="475569"/>
                </a:solidFill>
                <a:effectLst/>
                <a:latin typeface="IBM Plex Sans" panose="020B0503050203000203" pitchFamily="34" charset="0"/>
              </a:rPr>
              <a:t> (defines the device's native configuration vocabulary).</a:t>
            </a:r>
            <a:br>
              <a:rPr lang="en-US" b="0" i="0" dirty="0">
                <a:solidFill>
                  <a:srgbClr val="475569"/>
                </a:solidFill>
                <a:effectLst/>
                <a:latin typeface="IBM Plex Sans" panose="020B0503050203000203" pitchFamily="34" charset="0"/>
              </a:rPr>
            </a:br>
            <a:endParaRPr lang="en-US" b="0" i="0" dirty="0">
              <a:solidFill>
                <a:srgbClr val="475569"/>
              </a:solidFill>
              <a:effectLst/>
              <a:latin typeface="IBM Plex Sans" panose="020B050305020300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B9C2D7-8EA5-1AB8-B9AE-0AADCE5D4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538" y="3397084"/>
            <a:ext cx="9872190" cy="2064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6B0D2B-B959-82B9-44AB-A6B97368D115}"/>
              </a:ext>
            </a:extLst>
          </p:cNvPr>
          <p:cNvSpPr txBox="1"/>
          <p:nvPr/>
        </p:nvSpPr>
        <p:spPr>
          <a:xfrm>
            <a:off x="595459" y="5184802"/>
            <a:ext cx="111707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b="1" i="0" dirty="0">
                <a:solidFill>
                  <a:srgbClr val="475569"/>
                </a:solidFill>
                <a:effectLst/>
                <a:latin typeface="IBM Plex Sans" panose="020B0503050203000203" pitchFamily="34" charset="0"/>
              </a:rPr>
            </a:br>
            <a:r>
              <a:rPr lang="en-US" b="1" i="0" dirty="0">
                <a:solidFill>
                  <a:srgbClr val="475569"/>
                </a:solidFill>
                <a:effectLst/>
                <a:latin typeface="IBM Plex Sans" panose="020B0503050203000203" pitchFamily="34" charset="0"/>
              </a:rPr>
              <a:t>Service YANG</a:t>
            </a:r>
            <a:r>
              <a:rPr lang="en-US" b="0" i="0" dirty="0">
                <a:solidFill>
                  <a:srgbClr val="475569"/>
                </a:solidFill>
                <a:effectLst/>
                <a:latin typeface="IBM Plex Sans" panose="020B0503050203000203" pitchFamily="34" charset="0"/>
              </a:rPr>
              <a:t>— Defines the service schema (what users can configure: bandwidth, device, service name)</a:t>
            </a:r>
            <a:br>
              <a:rPr lang="en-US" b="0" i="0" dirty="0">
                <a:solidFill>
                  <a:srgbClr val="475569"/>
                </a:solidFill>
                <a:effectLst/>
                <a:latin typeface="IBM Plex Sans" panose="020B0503050203000203" pitchFamily="34" charset="0"/>
              </a:rPr>
            </a:b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811B24-9A56-B1E6-D9D6-A25F0B0707AD}"/>
              </a:ext>
            </a:extLst>
          </p:cNvPr>
          <p:cNvSpPr txBox="1"/>
          <p:nvPr/>
        </p:nvSpPr>
        <p:spPr>
          <a:xfrm>
            <a:off x="595459" y="5555289"/>
            <a:ext cx="88494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b="1" i="0" dirty="0">
                <a:solidFill>
                  <a:srgbClr val="475569"/>
                </a:solidFill>
                <a:effectLst/>
                <a:latin typeface="IBM Plex Sans" panose="020B0503050203000203" pitchFamily="34" charset="0"/>
              </a:rPr>
            </a:br>
            <a:r>
              <a:rPr lang="en-US" b="1" i="0" dirty="0">
                <a:solidFill>
                  <a:srgbClr val="475569"/>
                </a:solidFill>
                <a:effectLst/>
                <a:latin typeface="IBM Plex Sans" panose="020B0503050203000203" pitchFamily="34" charset="0"/>
              </a:rPr>
              <a:t>NED YANG</a:t>
            </a:r>
            <a:r>
              <a:rPr lang="en-US" b="0" i="0" dirty="0">
                <a:solidFill>
                  <a:srgbClr val="475569"/>
                </a:solidFill>
                <a:effectLst/>
                <a:latin typeface="IBM Plex Sans" panose="020B0503050203000203" pitchFamily="34" charset="0"/>
              </a:rPr>
              <a:t>— Defines device vocabulary (how Cisco/Huawei config is structured)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2828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5B367-E317-0D31-9C9F-1A28BDD69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109"/>
            <a:ext cx="10417404" cy="763571"/>
          </a:xfrm>
        </p:spPr>
        <p:txBody>
          <a:bodyPr>
            <a:normAutofit/>
          </a:bodyPr>
          <a:lstStyle/>
          <a:p>
            <a:r>
              <a:rPr lang="en-IN" b="1" cap="all" dirty="0"/>
              <a:t>Phase 1 </a:t>
            </a:r>
            <a:r>
              <a:rPr lang="en-IN" b="1" dirty="0"/>
              <a:t>YANG Schema Layer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8E269F-2BC4-CE6F-084C-7242BE4D2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66924"/>
            <a:ext cx="8871408" cy="45922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24F85B-1E7C-05F5-1232-75A2805661BB}"/>
              </a:ext>
            </a:extLst>
          </p:cNvPr>
          <p:cNvSpPr txBox="1"/>
          <p:nvPr/>
        </p:nvSpPr>
        <p:spPr>
          <a:xfrm>
            <a:off x="970960" y="5621744"/>
            <a:ext cx="102092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Light SemiConde" panose="020B0502040204020203" pitchFamily="34" charset="0"/>
              </a:rPr>
              <a:t>simple-</a:t>
            </a:r>
            <a:r>
              <a:rPr lang="en-US" dirty="0" err="1">
                <a:latin typeface="Bahnschrift SemiLight SemiConde" panose="020B0502040204020203" pitchFamily="34" charset="0"/>
              </a:rPr>
              <a:t>service.yang</a:t>
            </a:r>
            <a:r>
              <a:rPr lang="en-US" dirty="0">
                <a:latin typeface="Bahnschrift SemiLight SemiConde" panose="020B0502040204020203" pitchFamily="34" charset="0"/>
              </a:rPr>
              <a:t> file → READ ONCE → compiled → stored in Schema Store (memory) </a:t>
            </a:r>
            <a:br>
              <a:rPr lang="en-US" dirty="0">
                <a:latin typeface="Bahnschrift SemiLight SemiConde" panose="020B0502040204020203" pitchFamily="34" charset="0"/>
              </a:rPr>
            </a:br>
            <a:r>
              <a:rPr lang="en-US" dirty="0">
                <a:latin typeface="Bahnschrift SemiLight SemiConde" panose="020B0502040204020203" pitchFamily="34" charset="0"/>
              </a:rPr>
              <a:t>File on disk: packages/simple-service-pkg/</a:t>
            </a:r>
            <a:r>
              <a:rPr lang="en-US" dirty="0" err="1">
                <a:latin typeface="Bahnschrift SemiLight SemiConde" panose="020B0502040204020203" pitchFamily="34" charset="0"/>
              </a:rPr>
              <a:t>src</a:t>
            </a:r>
            <a:r>
              <a:rPr lang="en-US" dirty="0">
                <a:latin typeface="Bahnschrift SemiLight SemiConde" panose="020B0502040204020203" pitchFamily="34" charset="0"/>
              </a:rPr>
              <a:t>/yang/simple-</a:t>
            </a:r>
            <a:r>
              <a:rPr lang="en-US" dirty="0" err="1">
                <a:latin typeface="Bahnschrift SemiLight SemiConde" panose="020B0502040204020203" pitchFamily="34" charset="0"/>
              </a:rPr>
              <a:t>service.yang</a:t>
            </a:r>
            <a:r>
              <a:rPr lang="en-US" dirty="0">
                <a:latin typeface="Bahnschrift SemiLight SemiConde" panose="020B0502040204020203" pitchFamily="34" charset="0"/>
              </a:rPr>
              <a:t> </a:t>
            </a:r>
            <a:br>
              <a:rPr lang="en-US" dirty="0">
                <a:latin typeface="Bahnschrift SemiLight SemiConde" panose="020B0502040204020203" pitchFamily="34" charset="0"/>
              </a:rPr>
            </a:br>
            <a:r>
              <a:rPr lang="en-US" dirty="0">
                <a:latin typeface="Bahnschrift SemiLight SemiConde" panose="020B0502040204020203" pitchFamily="34" charset="0"/>
              </a:rPr>
              <a:t> ↑ </a:t>
            </a:r>
            <a:br>
              <a:rPr lang="en-US" dirty="0">
                <a:latin typeface="Bahnschrift SemiLight SemiConde" panose="020B0502040204020203" pitchFamily="34" charset="0"/>
              </a:rPr>
            </a:br>
            <a:r>
              <a:rPr lang="en-US" dirty="0">
                <a:latin typeface="Bahnschrift SemiLight SemiConde" panose="020B0502040204020203" pitchFamily="34" charset="0"/>
              </a:rPr>
              <a:t>ONLY read here, never again</a:t>
            </a:r>
            <a:endParaRPr lang="en-IN" dirty="0">
              <a:latin typeface="Bahnschrift SemiLight SemiConde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218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75E3A-AE57-929C-E20E-1108DD2C5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1589B-AC23-8FB6-4B54-4A7350FAF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109"/>
            <a:ext cx="10417404" cy="763571"/>
          </a:xfrm>
        </p:spPr>
        <p:txBody>
          <a:bodyPr>
            <a:normAutofit/>
          </a:bodyPr>
          <a:lstStyle/>
          <a:p>
            <a:r>
              <a:rPr lang="en-IN" b="1" cap="all" dirty="0"/>
              <a:t>Phase 2 </a:t>
            </a:r>
            <a:r>
              <a:rPr lang="en-IN" b="1" dirty="0"/>
              <a:t>Input &amp; Validation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7F87FB9-BD8E-9ABD-86E9-61B342BF24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876692"/>
            <a:ext cx="10014789" cy="493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770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EB68C-657B-8681-4E62-28DF80DAD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92D3228-7169-7AA2-6AF1-06B38D59E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78" y="1291472"/>
            <a:ext cx="10736499" cy="3912124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D64EA80-8DF2-AB27-F4E8-2CABE4080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523199"/>
              </p:ext>
            </p:extLst>
          </p:nvPr>
        </p:nvGraphicFramePr>
        <p:xfrm>
          <a:off x="915427" y="5321518"/>
          <a:ext cx="10538140" cy="914400"/>
        </p:xfrm>
        <a:graphic>
          <a:graphicData uri="http://schemas.openxmlformats.org/drawingml/2006/table">
            <a:tbl>
              <a:tblPr/>
              <a:tblGrid>
                <a:gridCol w="10538140">
                  <a:extLst>
                    <a:ext uri="{9D8B030D-6E8A-4147-A177-3AD203B41FA5}">
                      <a16:colId xmlns:a16="http://schemas.microsoft.com/office/drawing/2014/main" val="9315380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NSO finds .yang file:</a:t>
                      </a:r>
                      <a:r>
                        <a:rPr lang="en-US" dirty="0"/>
                        <a:t>NSO checks </a:t>
                      </a:r>
                      <a:r>
                        <a:rPr lang="en-US" b="1" dirty="0"/>
                        <a:t>Schema Store in memory (At step 1 stored in memory)</a:t>
                      </a:r>
                      <a:r>
                        <a:rPr lang="en-US" dirty="0"/>
                        <a:t> — file never touched again except at step 1.(in step 3: loads </a:t>
                      </a:r>
                      <a:r>
                        <a:rPr lang="en-US" dirty="0" err="1"/>
                        <a:t>definations</a:t>
                      </a:r>
                      <a:r>
                        <a:rPr lang="en-US" dirty="0"/>
                        <a:t> </a:t>
                      </a:r>
                      <a:r>
                        <a:rPr lang="en-US"/>
                        <a:t>not values device </a:t>
                      </a:r>
                      <a:r>
                        <a:rPr lang="en-US" dirty="0"/>
                        <a:t>, bandwidth, , speed required and pass to step 4 )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353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321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5EBA5-8242-2E3C-8F5A-FB9DC95C4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AFB296-CB63-44CE-A831-59C4B2D8B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999" y="466424"/>
            <a:ext cx="8512404" cy="4737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771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AD688-390F-71A7-88AA-2A1DFCD5F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19C3A4-D10B-B22E-EC82-CA48A79DC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04" y="622170"/>
            <a:ext cx="10405997" cy="504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352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87D57-76FA-AEA7-C4EB-987A0FA38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C726C-AD9B-A13D-B097-449BA235D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109"/>
            <a:ext cx="10417404" cy="763571"/>
          </a:xfrm>
        </p:spPr>
        <p:txBody>
          <a:bodyPr>
            <a:noAutofit/>
          </a:bodyPr>
          <a:lstStyle/>
          <a:p>
            <a:r>
              <a:rPr lang="en-US" sz="2400" b="1" cap="all" dirty="0"/>
              <a:t>Phase 3 </a:t>
            </a:r>
            <a:r>
              <a:rPr lang="en-US" sz="2400" b="1" dirty="0"/>
              <a:t>Service Orchestration                           </a:t>
            </a:r>
            <a:r>
              <a:rPr lang="en-US" sz="1600" dirty="0"/>
              <a:t>Steps 6 – 8 NSO takes ownership of the transaction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FEFCBA-C916-6AFA-D4F2-A520CBF73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90" y="942680"/>
            <a:ext cx="10695110" cy="425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446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1F8FE-F0F0-BA88-498B-82DB0968A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E2CB1C-DC41-916E-4B71-22715FB56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279" y="747884"/>
            <a:ext cx="10459050" cy="456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861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1C825-E6C0-7C0B-7A01-9025F2182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C6978A-BF12-E56A-60E9-235B3E001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638" y="725867"/>
            <a:ext cx="10395126" cy="4346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328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B5F8A-2EED-3D55-21A3-404A94746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57E99-D9AF-63DD-0F6D-E6B7C8014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109"/>
            <a:ext cx="10417404" cy="763571"/>
          </a:xfrm>
        </p:spPr>
        <p:txBody>
          <a:bodyPr>
            <a:noAutofit/>
          </a:bodyPr>
          <a:lstStyle/>
          <a:p>
            <a:r>
              <a:rPr lang="en-US" sz="1800" b="1" cap="all" dirty="0"/>
              <a:t>Phase 4 </a:t>
            </a:r>
            <a:r>
              <a:rPr lang="en-US" sz="1800" b="1" dirty="0"/>
              <a:t>Mapping &amp; Logic Execution                  </a:t>
            </a:r>
            <a:r>
              <a:rPr lang="en-US" sz="1800" dirty="0"/>
              <a:t>Steps 9 – 12 · Business logic, vendor detection, template selection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9164D1-D775-8B12-6C01-B03B6E623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17" y="933253"/>
            <a:ext cx="10417404" cy="505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737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3DDC3-FAA9-0528-3EFD-B44CB1278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3FB57A-DD5F-077F-1248-90901692D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04" y="622170"/>
            <a:ext cx="10405997" cy="504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804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301</Words>
  <Application>Microsoft Office PowerPoint</Application>
  <PresentationFormat>Widescreen</PresentationFormat>
  <Paragraphs>10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Bahnschrift SemiLight SemiConde</vt:lpstr>
      <vt:lpstr>Calibri</vt:lpstr>
      <vt:lpstr>Calibri Light</vt:lpstr>
      <vt:lpstr>IBM Plex Mono</vt:lpstr>
      <vt:lpstr>IBM Plex Sans</vt:lpstr>
      <vt:lpstr>Office Theme</vt:lpstr>
      <vt:lpstr>PowerPoint Presentation</vt:lpstr>
      <vt:lpstr>PowerPoint Presentation</vt:lpstr>
      <vt:lpstr>Phase 1 YANG Schema Layer</vt:lpstr>
      <vt:lpstr>Phase 2 Input &amp; Validation</vt:lpstr>
      <vt:lpstr>PowerPoint Presentation</vt:lpstr>
      <vt:lpstr>PowerPoint Presentation</vt:lpstr>
      <vt:lpstr>PowerPoint Presentation</vt:lpstr>
      <vt:lpstr>Phase 3 Service Orchestration                           Steps 6 – 8 NSO takes ownership of the transaction</vt:lpstr>
      <vt:lpstr>PowerPoint Presentation</vt:lpstr>
      <vt:lpstr>PowerPoint Presentation</vt:lpstr>
      <vt:lpstr>Phase 4 Mapping &amp; Logic Execution                  Steps 9 – 12 · Business logic, vendor detection, template selection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Ravali Salimeda</dc:creator>
  <cp:lastModifiedBy>Ravali Salimeda</cp:lastModifiedBy>
  <cp:revision>5</cp:revision>
  <dcterms:created xsi:type="dcterms:W3CDTF">2026-05-24T14:24:39Z</dcterms:created>
  <dcterms:modified xsi:type="dcterms:W3CDTF">2026-05-24T18:06:11Z</dcterms:modified>
</cp:coreProperties>
</file>